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2F295-E854-4591-AD7A-057E44B7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F8357D-706C-4209-BF9C-7D480199D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255F84-E797-4093-8E9D-6CA8385C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C5F9F-ADE1-49C2-B178-F630622E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58928-247A-4822-9176-1465E851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08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C4A44-ABB8-4E32-BE27-980B1D29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10C8F-304F-44AA-A61A-6B843EB9F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489E5-3715-419C-9BC8-C88C8A95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146F47-669C-420A-8B29-5FC256DC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8B6907-84B3-4128-81B6-3E4A1029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3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9AED1-6F3D-4B93-BA3F-037EC24C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4904C-EAC2-471E-8438-A11DEC8D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8D6C3-7FB4-4B02-8509-DE8D139E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7F094-0527-4BF3-ADA0-1461F414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5B161-B608-4E38-8F6E-05FBEE07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47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9F6E8-57F2-4C8C-AFB9-BA361E85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0958C-7242-4FF2-8E5D-1F9F1124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F85BB6-29B4-4F95-9A07-874E036F3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F0C1DF-B8E1-446D-93C0-DB025F7F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F2937E-98AB-461B-A0EB-6D0E6A40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DC13B2-CD76-41A1-82B6-E59B8BB8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7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91035-DFF8-4664-8520-57471FAD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6F9EB-4A20-48B4-9855-0E8516F2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BCD008-2DBE-4581-975E-B45E1F08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01EBC8-A3A9-436C-BF91-563D87BDE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802774-A165-4869-AA12-477123E46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95088F-669C-4BD7-8D6B-E017EAA2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9FAEF3-6FD2-40C9-8719-85D6A4AF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F13D1B-E277-49FC-8A4A-AEA21407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58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65AC6-7A88-420A-A0BC-01207ACB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C5240A-888B-4EC8-B0B1-CF9607B2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C40CEB-EFE0-45BA-B714-872ECC2D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5932C1-7A76-4EA0-824F-3581D2D0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59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F1E0F1-E557-4D3E-AC8E-B9902253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E8CE6-E65D-4498-9137-53F89246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559C8-C2AC-477C-98DE-3C8ABCAD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56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234A7-4710-46E9-A3E9-6C718CDA0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031425-FA66-47A5-BA59-FA491669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7E7FC4-2073-40D4-AB08-CD5D2DBF5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A27364-150F-4824-95FF-B73B5A853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EF456-6829-4CA1-89A0-B0CB20F5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25F60-04FA-474B-B48A-164EB530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97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4AF44-8798-438B-BFF8-146EABA3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6AE5E4-1EE9-4B46-A362-5B2155AE8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0E1375-A1DC-495D-AA8A-44578147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6B9FCD-6367-4E6A-BA27-258BBB05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FF9F37-E602-42A3-97EF-0B52BACF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35158A-8608-49AA-AEF6-C2320486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57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BDD85-F1DA-412E-9B07-53314DE2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D63210-F561-4727-86E3-1B0D4FE07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EC2FB-3060-4928-BDBB-1B8518EE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5C609-7380-497B-87BB-A89769FD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343A6-8AD8-4D3F-B9E9-AC3EE565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91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43045C-58F1-4F01-9AA6-472CDBA4E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C73511-0979-4D4F-816E-DCE2DF496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0245E-CB9B-42E1-A6BF-963CE4F3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3C19F-1A2C-46D7-AAAB-CA25A635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9A04B-F88A-4F9E-A341-33FD9E9C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29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198705-20ED-4200-AD77-37EE8D04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33AAEA-96AB-4283-99CB-90AE247D6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33B0A-9A47-4B5F-BB9D-F096B23D2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B7E7C-637E-4B2C-B155-355681ADA4E3}" type="datetimeFigureOut">
              <a:rPr lang="ko-KR" altLang="en-US" smtClean="0"/>
              <a:t>2022-02-18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A01225-F2F9-4707-A4AD-855AE0DD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1B813-302F-4877-BA37-6112B51FA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B1604-816B-4A43-9DA6-E59E79E5D7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0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E3F32D-DAEB-465F-99BF-DF0FF8F1DA28}"/>
              </a:ext>
            </a:extLst>
          </p:cNvPr>
          <p:cNvSpPr/>
          <p:nvPr/>
        </p:nvSpPr>
        <p:spPr>
          <a:xfrm>
            <a:off x="81022" y="144683"/>
            <a:ext cx="3339298" cy="7523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ViT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Self-attention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</a:rPr>
              <a:t>input-Dependent</a:t>
            </a:r>
            <a:r>
              <a:rPr lang="ko-KR" altLang="en-US" sz="1200" dirty="0">
                <a:solidFill>
                  <a:schemeClr val="tx1"/>
                </a:solidFill>
              </a:rPr>
              <a:t>한 </a:t>
            </a:r>
            <a:r>
              <a:rPr lang="en-US" altLang="ko-KR" sz="1200" dirty="0">
                <a:solidFill>
                  <a:schemeClr val="tx1"/>
                </a:solidFill>
              </a:rPr>
              <a:t>Weight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=&gt;  </a:t>
            </a:r>
            <a:r>
              <a:rPr lang="ko-KR" altLang="en-US" sz="1100" dirty="0">
                <a:solidFill>
                  <a:schemeClr val="tx1"/>
                </a:solidFill>
              </a:rPr>
              <a:t>대용량 데이터셋 </a:t>
            </a:r>
            <a:r>
              <a:rPr lang="en-US" altLang="ko-KR" sz="1100" dirty="0">
                <a:solidFill>
                  <a:schemeClr val="tx1"/>
                </a:solidFill>
              </a:rPr>
              <a:t>-&gt; </a:t>
            </a:r>
            <a:r>
              <a:rPr lang="ko-KR" altLang="en-US" sz="1100" dirty="0">
                <a:solidFill>
                  <a:schemeClr val="tx1"/>
                </a:solidFill>
              </a:rPr>
              <a:t>높은 성능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369DAB-0B6C-45A7-A9A4-BE102FC2B660}"/>
              </a:ext>
            </a:extLst>
          </p:cNvPr>
          <p:cNvSpPr/>
          <p:nvPr/>
        </p:nvSpPr>
        <p:spPr>
          <a:xfrm>
            <a:off x="81022" y="1037244"/>
            <a:ext cx="3339297" cy="9825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ConvNet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0" i="0" dirty="0">
                <a:solidFill>
                  <a:srgbClr val="000000"/>
                </a:solidFill>
                <a:effectLst/>
                <a:latin typeface="-apple-system"/>
              </a:rPr>
              <a:t>Vision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-apple-system"/>
              </a:rPr>
              <a:t>에 적합한 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-apple-system"/>
              </a:rPr>
              <a:t>Inductive Bias</a:t>
            </a:r>
          </a:p>
          <a:p>
            <a:pPr algn="ctr"/>
            <a:r>
              <a:rPr lang="en-US" altLang="ko-KR" sz="1200" b="0" i="0" dirty="0">
                <a:solidFill>
                  <a:srgbClr val="000000"/>
                </a:solidFill>
                <a:effectLst/>
                <a:latin typeface="-apple-system"/>
              </a:rPr>
              <a:t>(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-apple-system"/>
              </a:rPr>
              <a:t>Locality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-apple-system"/>
              </a:rPr>
              <a:t>와 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-apple-system"/>
              </a:rPr>
              <a:t>Parameter Sharing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=&gt;   Vision</a:t>
            </a:r>
            <a:r>
              <a:rPr lang="ko-KR" altLang="en-US" sz="1100" dirty="0">
                <a:solidFill>
                  <a:schemeClr val="tx1"/>
                </a:solidFill>
              </a:rPr>
              <a:t>에서 높은 효과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1" name="오른쪽 대괄호 10">
            <a:extLst>
              <a:ext uri="{FF2B5EF4-FFF2-40B4-BE49-F238E27FC236}">
                <a16:creationId xmlns:a16="http://schemas.microsoft.com/office/drawing/2014/main" id="{C30283C4-24B0-4545-9244-1E5797602FA6}"/>
              </a:ext>
            </a:extLst>
          </p:cNvPr>
          <p:cNvSpPr/>
          <p:nvPr/>
        </p:nvSpPr>
        <p:spPr>
          <a:xfrm>
            <a:off x="3420319" y="515073"/>
            <a:ext cx="243068" cy="91440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2C04256-2114-4643-B325-4A02C133FF3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663387" y="972273"/>
            <a:ext cx="8218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FE77C5-75EC-4034-88DB-1B065770AE76}"/>
              </a:ext>
            </a:extLst>
          </p:cNvPr>
          <p:cNvSpPr txBox="1"/>
          <p:nvPr/>
        </p:nvSpPr>
        <p:spPr>
          <a:xfrm>
            <a:off x="3541853" y="572163"/>
            <a:ext cx="1024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적절하게 </a:t>
            </a:r>
            <a:endParaRPr lang="en-US" altLang="ko-KR" sz="1000" dirty="0"/>
          </a:p>
          <a:p>
            <a:pPr algn="ctr"/>
            <a:r>
              <a:rPr lang="ko-KR" altLang="en-US" sz="1000" dirty="0"/>
              <a:t>조합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C21B3D-6D6A-4B9D-A303-FF212A4BC1DD}"/>
              </a:ext>
            </a:extLst>
          </p:cNvPr>
          <p:cNvSpPr txBox="1"/>
          <p:nvPr/>
        </p:nvSpPr>
        <p:spPr>
          <a:xfrm>
            <a:off x="4728257" y="72532"/>
            <a:ext cx="73267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/>
              <a:t>Conv</a:t>
            </a:r>
            <a:r>
              <a:rPr lang="ko-KR" altLang="en-US" sz="1100" dirty="0"/>
              <a:t>와 </a:t>
            </a:r>
            <a:r>
              <a:rPr lang="en-US" altLang="ko-KR" sz="1100" dirty="0"/>
              <a:t>self-attention </a:t>
            </a:r>
            <a:r>
              <a:rPr lang="ko-KR" altLang="en-US" sz="1100" dirty="0"/>
              <a:t>어떻게 한 </a:t>
            </a:r>
            <a:r>
              <a:rPr lang="en-US" altLang="ko-KR" sz="1100" dirty="0"/>
              <a:t>block</a:t>
            </a:r>
            <a:r>
              <a:rPr lang="ko-KR" altLang="en-US" sz="1100" dirty="0"/>
              <a:t>으로 합칠지</a:t>
            </a:r>
            <a:br>
              <a:rPr lang="en-US" altLang="ko-KR" sz="1100" dirty="0"/>
            </a:br>
            <a:r>
              <a:rPr lang="en-US" altLang="ko-KR" sz="1100" dirty="0"/>
              <a:t>( </a:t>
            </a:r>
            <a:r>
              <a:rPr lang="ko-KR" altLang="en-US" sz="1100" dirty="0"/>
              <a:t>둘의 장점을 살려서 </a:t>
            </a:r>
            <a:r>
              <a:rPr lang="en-US" altLang="ko-KR" sz="1100" dirty="0"/>
              <a:t>)</a:t>
            </a:r>
            <a:br>
              <a:rPr lang="en-US" altLang="ko-KR" sz="1100" dirty="0"/>
            </a:br>
            <a:endParaRPr lang="en-US" altLang="ko-KR" sz="1100" dirty="0"/>
          </a:p>
          <a:p>
            <a:r>
              <a:rPr lang="en-US" altLang="ko-KR" sz="1100" b="1" dirty="0"/>
              <a:t>   </a:t>
            </a:r>
            <a:r>
              <a:rPr lang="en-US" altLang="ko-KR" sz="1100" b="1" dirty="0">
                <a:solidFill>
                  <a:schemeClr val="tx1"/>
                </a:solidFill>
              </a:rPr>
              <a:t>Translation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</a:rPr>
              <a:t>Equivalence - </a:t>
            </a:r>
            <a:r>
              <a:rPr lang="en-US" altLang="ko-KR" sz="1100" dirty="0">
                <a:solidFill>
                  <a:schemeClr val="tx1"/>
                </a:solidFill>
              </a:rPr>
              <a:t>Conv</a:t>
            </a:r>
            <a:r>
              <a:rPr lang="ko-KR" altLang="en-US" sz="1100" dirty="0">
                <a:solidFill>
                  <a:schemeClr val="tx1"/>
                </a:solidFill>
              </a:rPr>
              <a:t>의 장점</a:t>
            </a:r>
            <a:endParaRPr lang="en-US" altLang="ko-KR" sz="900" u="sng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   입력 이미지의 일부 지역 픽셀만 고려 </a:t>
            </a:r>
            <a:r>
              <a:rPr lang="en-US" altLang="ko-KR" sz="900" dirty="0">
                <a:solidFill>
                  <a:schemeClr val="tx1"/>
                </a:solidFill>
              </a:rPr>
              <a:t>( </a:t>
            </a:r>
            <a:r>
              <a:rPr lang="en-US" altLang="ko-KR" sz="900" dirty="0"/>
              <a:t>Locality</a:t>
            </a:r>
            <a:r>
              <a:rPr lang="en-US" altLang="ko-KR" sz="900" dirty="0">
                <a:solidFill>
                  <a:schemeClr val="tx1"/>
                </a:solidFill>
              </a:rPr>
              <a:t> ) + </a:t>
            </a:r>
            <a:r>
              <a:rPr lang="ko-KR" altLang="en-US" sz="900" dirty="0">
                <a:solidFill>
                  <a:schemeClr val="tx1"/>
                </a:solidFill>
              </a:rPr>
              <a:t>상대적인 위치 고려 </a:t>
            </a:r>
            <a:r>
              <a:rPr lang="en-US" altLang="ko-KR" sz="900" dirty="0">
                <a:solidFill>
                  <a:schemeClr val="tx1"/>
                </a:solidFill>
              </a:rPr>
              <a:t>( </a:t>
            </a:r>
            <a:r>
              <a:rPr lang="en-US" altLang="ko-KR" sz="900" dirty="0"/>
              <a:t>Parameter Sharing 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en-US" altLang="ko-KR" sz="1100" dirty="0">
              <a:solidFill>
                <a:schemeClr val="tx1"/>
              </a:solidFill>
            </a:endParaRP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j-lt"/>
              </a:rPr>
              <a:t>   </a:t>
            </a:r>
            <a:r>
              <a:rPr lang="en-US" altLang="ko-KR" sz="1100" b="1" i="0" dirty="0">
                <a:solidFill>
                  <a:schemeClr val="tx1"/>
                </a:solidFill>
                <a:effectLst/>
                <a:latin typeface="+mj-lt"/>
              </a:rPr>
              <a:t>Input-adaptive Weighting</a:t>
            </a:r>
            <a:r>
              <a:rPr lang="ko-KR" altLang="en-US" sz="1100" b="1" i="0" dirty="0">
                <a:solidFill>
                  <a:schemeClr val="tx1"/>
                </a:solidFill>
                <a:effectLst/>
                <a:latin typeface="+mj-lt"/>
              </a:rPr>
              <a:t>과 </a:t>
            </a:r>
            <a:r>
              <a:rPr lang="en-US" altLang="ko-KR" sz="1100" b="1" i="0" dirty="0">
                <a:solidFill>
                  <a:schemeClr val="tx1"/>
                </a:solidFill>
                <a:effectLst/>
                <a:latin typeface="+mj-lt"/>
              </a:rPr>
              <a:t>Global Receptive Field  </a:t>
            </a:r>
            <a:r>
              <a:rPr lang="en-US" altLang="ko-KR" sz="1100" i="0" dirty="0">
                <a:solidFill>
                  <a:schemeClr val="tx1"/>
                </a:solidFill>
                <a:effectLst/>
                <a:latin typeface="+mj-lt"/>
              </a:rPr>
              <a:t>–  Self attention</a:t>
            </a:r>
            <a:r>
              <a:rPr lang="ko-KR" altLang="en-US" sz="1100" i="0" dirty="0">
                <a:solidFill>
                  <a:schemeClr val="tx1"/>
                </a:solidFill>
                <a:effectLst/>
                <a:latin typeface="+mj-lt"/>
              </a:rPr>
              <a:t>의 장점</a:t>
            </a:r>
            <a:endParaRPr lang="ko-KR" altLang="en-US" sz="1100" dirty="0">
              <a:solidFill>
                <a:schemeClr val="tx1"/>
              </a:solidFill>
              <a:latin typeface="+mj-lt"/>
            </a:endParaRPr>
          </a:p>
          <a:p>
            <a:endParaRPr lang="en-US" altLang="ko-KR" sz="1100" dirty="0"/>
          </a:p>
          <a:p>
            <a:r>
              <a:rPr lang="en-US" altLang="ko-KR" sz="1100" dirty="0"/>
              <a:t>-------------------------------------------------------------------------------------------------</a:t>
            </a:r>
          </a:p>
          <a:p>
            <a:pPr marL="342900" indent="-3429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 startAt="2"/>
            </a:pPr>
            <a:r>
              <a:rPr lang="ko-KR" altLang="en-US" sz="1100" dirty="0"/>
              <a:t>다양한 </a:t>
            </a:r>
            <a:r>
              <a:rPr lang="en-US" altLang="ko-KR" sz="1100" dirty="0"/>
              <a:t>block</a:t>
            </a:r>
            <a:r>
              <a:rPr lang="ko-KR" altLang="en-US" sz="1100" dirty="0"/>
              <a:t>들을 어떻게 합칠지 </a:t>
            </a:r>
            <a:br>
              <a:rPr lang="en-US" altLang="ko-KR" sz="1100" dirty="0"/>
            </a:br>
            <a:r>
              <a:rPr lang="en-US" altLang="ko-KR" sz="1100" dirty="0"/>
              <a:t>( </a:t>
            </a:r>
            <a:r>
              <a:rPr lang="ko-KR" altLang="en-US" sz="1100" dirty="0"/>
              <a:t>토큰 수</a:t>
            </a:r>
            <a:r>
              <a:rPr lang="en-US" altLang="ko-KR" sz="1100" dirty="0"/>
              <a:t>(</a:t>
            </a:r>
            <a:r>
              <a:rPr lang="ko-KR" altLang="en-US" sz="1100" dirty="0"/>
              <a:t>이미지 픽셀 수</a:t>
            </a:r>
            <a:r>
              <a:rPr lang="en-US" altLang="ko-KR" sz="1100" dirty="0"/>
              <a:t>)</a:t>
            </a:r>
            <a:r>
              <a:rPr lang="ko-KR" altLang="en-US" sz="1100" dirty="0"/>
              <a:t>에 제곱으로 증가하는 </a:t>
            </a:r>
            <a:r>
              <a:rPr lang="ko-KR" altLang="en-US" sz="1100" dirty="0" err="1"/>
              <a:t>연산량을</a:t>
            </a:r>
            <a:r>
              <a:rPr lang="ko-KR" altLang="en-US" sz="1100" dirty="0"/>
              <a:t> 줄이는 방향으로 </a:t>
            </a:r>
            <a:r>
              <a:rPr lang="en-US" altLang="ko-KR" sz="1100" dirty="0"/>
              <a:t>)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en-US" altLang="ko-KR" sz="1100" dirty="0"/>
              <a:t>(</a:t>
            </a:r>
            <a:r>
              <a:rPr lang="en-US" altLang="ko-KR" sz="1100" b="1" dirty="0">
                <a:latin typeface="+mj-lt"/>
              </a:rPr>
              <a:t>A) 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latin typeface="+mj-lt"/>
              </a:rPr>
              <a:t>Down-sampling</a:t>
            </a:r>
            <a:r>
              <a:rPr lang="ko-KR" altLang="en-US" sz="1100" i="0" dirty="0">
                <a:solidFill>
                  <a:srgbClr val="000000"/>
                </a:solidFill>
                <a:effectLst/>
                <a:latin typeface="+mj-lt"/>
              </a:rPr>
              <a:t>을 통해 크기를 줄여 감당할 만한 수준에 이르면 </a:t>
            </a:r>
            <a:r>
              <a:rPr lang="en-US" altLang="ko-KR" sz="1100" i="0" dirty="0">
                <a:solidFill>
                  <a:srgbClr val="000000"/>
                </a:solidFill>
                <a:effectLst/>
                <a:latin typeface="+mj-lt"/>
              </a:rPr>
              <a:t>Global Attn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100" strike="sngStrike" dirty="0">
                <a:solidFill>
                  <a:srgbClr val="000000"/>
                </a:solidFill>
                <a:latin typeface="+mj-lt"/>
              </a:rPr>
              <a:t> (B)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j-lt"/>
              </a:rPr>
              <a:t>Conv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+mj-lt"/>
              </a:rPr>
              <a:t>처럼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j-lt"/>
              </a:rPr>
              <a:t>Local Field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+mj-lt"/>
              </a:rPr>
              <a:t>로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j-lt"/>
              </a:rPr>
              <a:t>Attn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+mj-lt"/>
              </a:rPr>
              <a:t>의 범위를 제한한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j-lt"/>
              </a:rPr>
              <a:t>Local Attn (</a:t>
            </a:r>
            <a:r>
              <a:rPr lang="en-US" altLang="ko-KR" sz="1100" dirty="0">
                <a:solidFill>
                  <a:srgbClr val="000000"/>
                </a:solidFill>
                <a:latin typeface="+mj-lt"/>
              </a:rPr>
              <a:t>TPU</a:t>
            </a:r>
            <a:r>
              <a:rPr lang="ko-KR" altLang="en-US" sz="1100" dirty="0">
                <a:solidFill>
                  <a:srgbClr val="000000"/>
                </a:solidFill>
                <a:latin typeface="+mj-lt"/>
              </a:rPr>
              <a:t>상에서 비효율적</a:t>
            </a:r>
            <a:r>
              <a:rPr lang="en-US" altLang="ko-KR" sz="1100" dirty="0">
                <a:solidFill>
                  <a:srgbClr val="000000"/>
                </a:solidFill>
                <a:latin typeface="+mj-lt"/>
              </a:rPr>
              <a:t>)</a:t>
            </a:r>
            <a:endParaRPr lang="en-US" altLang="ko-KR" sz="1100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100" strike="sngStrike" dirty="0">
                <a:solidFill>
                  <a:srgbClr val="000000"/>
                </a:solidFill>
                <a:latin typeface="+mj-lt"/>
              </a:rPr>
              <a:t> (C)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Quadratic Attn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-apple-system"/>
              </a:rPr>
              <a:t>을 여러 기법들을 이용한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Linear Attn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-apple-system"/>
              </a:rPr>
              <a:t>으로 대체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(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-apple-system"/>
              </a:rPr>
              <a:t>실험에서 좋은 성능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x )</a:t>
            </a:r>
            <a:b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US" altLang="ko-KR" sz="11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-apple-system"/>
              </a:rPr>
              <a:t>       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latin typeface="+mj-lt"/>
              </a:rPr>
              <a:t>Down-sampling</a:t>
            </a:r>
          </a:p>
          <a:p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        1. </a:t>
            </a:r>
            <a:r>
              <a:rPr lang="en-US" altLang="ko-KR" sz="1100" b="0" i="0" dirty="0" err="1">
                <a:solidFill>
                  <a:srgbClr val="333333"/>
                </a:solidFill>
                <a:effectLst/>
                <a:latin typeface="-apple-system"/>
              </a:rPr>
              <a:t>ViT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 stem(16x16 stride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-apple-system"/>
              </a:rPr>
              <a:t>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raw image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-apple-system"/>
              </a:rPr>
              <a:t>를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patch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-apple-system"/>
              </a:rPr>
              <a:t>로 만드는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layer)         + 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-apple-system"/>
              </a:rPr>
              <a:t>새로운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Attention    =    </a:t>
            </a:r>
            <a:r>
              <a:rPr lang="en-US" altLang="ko-KR" sz="1100" b="0" i="0" dirty="0" err="1">
                <a:solidFill>
                  <a:srgbClr val="333333"/>
                </a:solidFill>
                <a:effectLst/>
                <a:latin typeface="-apple-system"/>
              </a:rPr>
              <a:t>ViTrel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-apple-system"/>
              </a:rPr>
              <a:t>  </a:t>
            </a:r>
            <a:endParaRPr lang="ko-KR" altLang="en-US" sz="11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altLang="ko-KR" sz="1100" b="0" i="0" dirty="0">
                <a:solidFill>
                  <a:srgbClr val="000000"/>
                </a:solidFill>
                <a:effectLst/>
                <a:latin typeface="+mj-lt"/>
              </a:rPr>
              <a:t>     2. </a:t>
            </a:r>
            <a:r>
              <a:rPr lang="en-US" altLang="ko-KR" sz="1100" b="0" i="0" dirty="0" err="1">
                <a:solidFill>
                  <a:srgbClr val="000000"/>
                </a:solidFill>
                <a:effectLst/>
                <a:latin typeface="-apple-system"/>
              </a:rPr>
              <a:t>ConvNet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-apple-system"/>
              </a:rPr>
              <a:t>처럼 단계별로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spatial size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-apple-system"/>
              </a:rPr>
              <a:t>를 줄이는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Multi-stage network(</a:t>
            </a:r>
            <a:r>
              <a:rPr lang="en-US" altLang="ko-KR" sz="1100" dirty="0">
                <a:solidFill>
                  <a:srgbClr val="000000"/>
                </a:solidFill>
                <a:latin typeface="-apple-system"/>
              </a:rPr>
              <a:t>C, T</a:t>
            </a:r>
            <a:r>
              <a:rPr lang="ko-KR" altLang="en-US" sz="1100" dirty="0">
                <a:solidFill>
                  <a:srgbClr val="000000"/>
                </a:solidFill>
                <a:latin typeface="-apple-system"/>
              </a:rPr>
              <a:t> 혼합</a:t>
            </a:r>
            <a:r>
              <a:rPr lang="en-US" altLang="ko-KR" sz="1100" dirty="0">
                <a:solidFill>
                  <a:srgbClr val="000000"/>
                </a:solidFill>
                <a:latin typeface="-apple-system"/>
              </a:rPr>
              <a:t>)                  =    CCC, CCT, CTT, TTT (S2~S4)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</a:p>
          <a:p>
            <a:endParaRPr lang="en-US" altLang="ko-KR" sz="11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altLang="ko-KR" sz="1100" dirty="0"/>
          </a:p>
        </p:txBody>
      </p:sp>
      <p:sp>
        <p:nvSpPr>
          <p:cNvPr id="39" name="오른쪽 대괄호 38">
            <a:extLst>
              <a:ext uri="{FF2B5EF4-FFF2-40B4-BE49-F238E27FC236}">
                <a16:creationId xmlns:a16="http://schemas.microsoft.com/office/drawing/2014/main" id="{4364D112-D0AF-4B8D-8EA4-01F036B872FB}"/>
              </a:ext>
            </a:extLst>
          </p:cNvPr>
          <p:cNvSpPr/>
          <p:nvPr/>
        </p:nvSpPr>
        <p:spPr>
          <a:xfrm>
            <a:off x="10152926" y="523708"/>
            <a:ext cx="243068" cy="61061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C5544A-C8B4-410F-8754-87A67DA5BE78}"/>
              </a:ext>
            </a:extLst>
          </p:cNvPr>
          <p:cNvSpPr txBox="1"/>
          <p:nvPr/>
        </p:nvSpPr>
        <p:spPr>
          <a:xfrm>
            <a:off x="10455315" y="444292"/>
            <a:ext cx="15510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Post </a:t>
            </a:r>
            <a:r>
              <a:rPr lang="en-US" altLang="ko-KR" sz="1100" dirty="0" err="1"/>
              <a:t>Softmax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>
                <a:solidFill>
                  <a:srgbClr val="FF0000"/>
                </a:solidFill>
              </a:rPr>
              <a:t>Pre </a:t>
            </a:r>
            <a:r>
              <a:rPr lang="en-US" altLang="ko-KR" sz="1100" dirty="0" err="1">
                <a:solidFill>
                  <a:srgbClr val="FF0000"/>
                </a:solidFill>
              </a:rPr>
              <a:t>Softmax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(Relative Attention)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58817C1-6F41-4604-8730-963E533A2357}"/>
              </a:ext>
            </a:extLst>
          </p:cNvPr>
          <p:cNvSpPr/>
          <p:nvPr/>
        </p:nvSpPr>
        <p:spPr>
          <a:xfrm>
            <a:off x="4559464" y="68011"/>
            <a:ext cx="7551514" cy="3491204"/>
          </a:xfrm>
          <a:prstGeom prst="roundRect">
            <a:avLst>
              <a:gd name="adj" fmla="val 1136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387C29B-ACEF-49C4-838E-5BB57AA064EF}"/>
              </a:ext>
            </a:extLst>
          </p:cNvPr>
          <p:cNvCxnSpPr/>
          <p:nvPr/>
        </p:nvCxnSpPr>
        <p:spPr>
          <a:xfrm>
            <a:off x="8380071" y="3559215"/>
            <a:ext cx="0" cy="51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BC8CA7F-49EE-4163-976D-DA7E9164465E}"/>
              </a:ext>
            </a:extLst>
          </p:cNvPr>
          <p:cNvSpPr txBox="1"/>
          <p:nvPr/>
        </p:nvSpPr>
        <p:spPr>
          <a:xfrm>
            <a:off x="5606490" y="4100210"/>
            <a:ext cx="5748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rgbClr val="000000"/>
                </a:solidFill>
                <a:effectLst/>
                <a:latin typeface="-apple-system"/>
              </a:rPr>
              <a:t>Conv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-apple-system"/>
              </a:rPr>
              <a:t>의 장점인 일반화 성능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-apple-system"/>
              </a:rPr>
              <a:t>과 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-apple-system"/>
              </a:rPr>
              <a:t>Attn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-apple-system"/>
              </a:rPr>
              <a:t>의 장점인</a:t>
            </a:r>
            <a:r>
              <a:rPr lang="en-US" altLang="ko-KR" sz="1200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-apple-system"/>
              </a:rPr>
              <a:t>높은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-apple-system"/>
              </a:rPr>
              <a:t>model capacity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-apple-system"/>
              </a:rPr>
              <a:t>의 관점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-apple-system"/>
              </a:rPr>
              <a:t>에서 비교</a:t>
            </a:r>
            <a:endParaRPr lang="ko-KR" altLang="en-US" sz="12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E0AA1F5-6472-4827-9174-736C1641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107" y="4356202"/>
            <a:ext cx="3702240" cy="205750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EB3B453-70A2-4FCE-95E6-D853B8168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076" y="4403130"/>
            <a:ext cx="3740342" cy="207020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E193A5E-940D-4A47-AA15-B6C78D94AB14}"/>
              </a:ext>
            </a:extLst>
          </p:cNvPr>
          <p:cNvSpPr txBox="1"/>
          <p:nvPr/>
        </p:nvSpPr>
        <p:spPr>
          <a:xfrm>
            <a:off x="4841335" y="6510343"/>
            <a:ext cx="28415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solidFill>
                  <a:schemeClr val="accent1"/>
                </a:solidFill>
                <a:effectLst/>
                <a:latin typeface="-apple-system"/>
              </a:rPr>
              <a:t>Conv</a:t>
            </a:r>
            <a:r>
              <a:rPr lang="ko-KR" altLang="en-US" sz="1100" b="1" i="0" dirty="0">
                <a:solidFill>
                  <a:schemeClr val="accent1"/>
                </a:solidFill>
                <a:effectLst/>
                <a:latin typeface="-apple-system"/>
              </a:rPr>
              <a:t>가 많을수록 일반화 성능이 좋아짐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779A5A-2D05-4817-B321-1E8B7AA50561}"/>
              </a:ext>
            </a:extLst>
          </p:cNvPr>
          <p:cNvSpPr txBox="1"/>
          <p:nvPr/>
        </p:nvSpPr>
        <p:spPr>
          <a:xfrm>
            <a:off x="7949418" y="6439629"/>
            <a:ext cx="4365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i="0" dirty="0">
                <a:solidFill>
                  <a:schemeClr val="accent1"/>
                </a:solidFill>
                <a:effectLst/>
                <a:latin typeface="-apple-system"/>
              </a:rPr>
              <a:t>Transformer Block</a:t>
            </a:r>
            <a:r>
              <a:rPr lang="ko-KR" altLang="en-US" sz="900" b="1" i="0" dirty="0">
                <a:solidFill>
                  <a:schemeClr val="accent1"/>
                </a:solidFill>
                <a:effectLst/>
                <a:latin typeface="-apple-system"/>
              </a:rPr>
              <a:t>이 </a:t>
            </a:r>
            <a:r>
              <a:rPr lang="en-US" altLang="ko-KR" sz="900" b="1" i="0" dirty="0">
                <a:solidFill>
                  <a:schemeClr val="accent1"/>
                </a:solidFill>
                <a:effectLst/>
                <a:latin typeface="-apple-system"/>
              </a:rPr>
              <a:t>Vision</a:t>
            </a:r>
            <a:r>
              <a:rPr lang="ko-KR" altLang="en-US" sz="900" b="1" i="0" dirty="0">
                <a:solidFill>
                  <a:schemeClr val="accent1"/>
                </a:solidFill>
                <a:effectLst/>
                <a:latin typeface="-apple-system"/>
              </a:rPr>
              <a:t>에서는 높은 </a:t>
            </a:r>
            <a:r>
              <a:rPr lang="en-US" altLang="ko-KR" sz="900" b="1" i="0" dirty="0">
                <a:solidFill>
                  <a:schemeClr val="accent1"/>
                </a:solidFill>
                <a:effectLst/>
                <a:latin typeface="-apple-system"/>
              </a:rPr>
              <a:t>Capacity</a:t>
            </a:r>
            <a:r>
              <a:rPr lang="ko-KR" altLang="en-US" sz="900" b="1" i="0" dirty="0">
                <a:solidFill>
                  <a:schemeClr val="accent1"/>
                </a:solidFill>
                <a:effectLst/>
                <a:latin typeface="-apple-system"/>
              </a:rPr>
              <a:t>를 얻기 위해서 필수적이지 않거나</a:t>
            </a:r>
            <a:r>
              <a:rPr lang="en-US" altLang="ko-KR" sz="900" b="1" i="0" dirty="0">
                <a:solidFill>
                  <a:schemeClr val="accent1"/>
                </a:solidFill>
                <a:effectLst/>
                <a:latin typeface="-apple-system"/>
              </a:rPr>
              <a:t>, </a:t>
            </a:r>
            <a:r>
              <a:rPr lang="en-US" altLang="ko-KR" sz="900" b="1" i="0" dirty="0" err="1">
                <a:solidFill>
                  <a:schemeClr val="accent1"/>
                </a:solidFill>
                <a:effectLst/>
                <a:latin typeface="-apple-system"/>
              </a:rPr>
              <a:t>ViT</a:t>
            </a:r>
            <a:r>
              <a:rPr lang="en-US" altLang="ko-KR" sz="900" b="1" i="0" dirty="0">
                <a:solidFill>
                  <a:schemeClr val="accent1"/>
                </a:solidFill>
                <a:effectLst/>
                <a:latin typeface="-apple-system"/>
              </a:rPr>
              <a:t> Stem</a:t>
            </a:r>
            <a:r>
              <a:rPr lang="ko-KR" altLang="en-US" sz="900" b="1" i="0" dirty="0">
                <a:solidFill>
                  <a:schemeClr val="accent1"/>
                </a:solidFill>
                <a:effectLst/>
                <a:latin typeface="-apple-system"/>
              </a:rPr>
              <a:t>이 너무 많은 정보를 잃어 버린다는 것을 의미</a:t>
            </a:r>
            <a:endParaRPr lang="ko-KR" altLang="en-US" sz="900" b="1" dirty="0">
              <a:solidFill>
                <a:schemeClr val="accent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ADD376C-AF16-46F9-B417-A7E2D51CD006}"/>
              </a:ext>
            </a:extLst>
          </p:cNvPr>
          <p:cNvSpPr/>
          <p:nvPr/>
        </p:nvSpPr>
        <p:spPr>
          <a:xfrm>
            <a:off x="8218055" y="6201332"/>
            <a:ext cx="1312800" cy="21237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7A439D4-A428-4BBE-A682-47B0CF5352F1}"/>
              </a:ext>
            </a:extLst>
          </p:cNvPr>
          <p:cNvSpPr/>
          <p:nvPr/>
        </p:nvSpPr>
        <p:spPr>
          <a:xfrm>
            <a:off x="5026305" y="6237068"/>
            <a:ext cx="1312800" cy="21237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2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  <p:bldP spid="20" grpId="0"/>
      <p:bldP spid="39" grpId="0" animBg="1"/>
      <p:bldP spid="41" grpId="0"/>
      <p:bldP spid="42" grpId="0" animBg="1"/>
      <p:bldP spid="48" grpId="0"/>
      <p:bldP spid="54" grpId="0"/>
      <p:bldP spid="56" grpId="0"/>
      <p:bldP spid="57" grpId="0" animBg="1"/>
      <p:bldP spid="5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-20210824174452402">
            <a:extLst>
              <a:ext uri="{FF2B5EF4-FFF2-40B4-BE49-F238E27FC236}">
                <a16:creationId xmlns:a16="http://schemas.microsoft.com/office/drawing/2014/main" id="{ED90CD48-3DDB-4548-AE84-5C832CF95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453866" y="2536943"/>
            <a:ext cx="6861039" cy="178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581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268</Words>
  <Application>Microsoft Office PowerPoint</Application>
  <PresentationFormat>와이드스크린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-apple-system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 민영</dc:creator>
  <cp:lastModifiedBy>허 민영</cp:lastModifiedBy>
  <cp:revision>1</cp:revision>
  <dcterms:created xsi:type="dcterms:W3CDTF">2022-02-17T17:42:52Z</dcterms:created>
  <dcterms:modified xsi:type="dcterms:W3CDTF">2022-02-18T06:49:12Z</dcterms:modified>
</cp:coreProperties>
</file>